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8" r:id="rId1"/>
  </p:sldMasterIdLst>
  <p:notesMasterIdLst>
    <p:notesMasterId r:id="rId14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4" r:id="rId10"/>
    <p:sldId id="268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802" autoAdjust="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itha Reddy" userId="f820fd28f292ab24" providerId="LiveId" clId="{E0E7E6B0-B73B-4C70-82C9-D29B69AB34AF}"/>
    <pc:docChg chg="delSld">
      <pc:chgData name="Lakshitha Reddy" userId="f820fd28f292ab24" providerId="LiveId" clId="{E0E7E6B0-B73B-4C70-82C9-D29B69AB34AF}" dt="2026-10-20T07:19:08.528" v="1" actId="2696"/>
      <pc:docMkLst>
        <pc:docMk/>
      </pc:docMkLst>
      <pc:sldChg chg="del">
        <pc:chgData name="Lakshitha Reddy" userId="f820fd28f292ab24" providerId="LiveId" clId="{E0E7E6B0-B73B-4C70-82C9-D29B69AB34AF}" dt="2026-10-20T07:19:08.528" v="1" actId="2696"/>
        <pc:sldMkLst>
          <pc:docMk/>
          <pc:sldMk cId="3593494940" sldId="265"/>
        </pc:sldMkLst>
      </pc:sldChg>
      <pc:sldChg chg="del">
        <pc:chgData name="Lakshitha Reddy" userId="f820fd28f292ab24" providerId="LiveId" clId="{E0E7E6B0-B73B-4C70-82C9-D29B69AB34AF}" dt="2026-10-20T07:19:01.787" v="0" actId="2696"/>
        <pc:sldMkLst>
          <pc:docMk/>
          <pc:sldMk cId="1977615514" sldId="26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32D4FC-7826-4567-943E-6081C6D7D6D2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CD9F8BD-6358-4880-AE5D-8EBACEBEA498}">
      <dgm:prSet phldrT="[Text]" phldr="0"/>
      <dgm:spPr/>
      <dgm:t>
        <a:bodyPr/>
        <a:lstStyle/>
        <a:p>
          <a:r>
            <a:rPr lang="en-US" dirty="0"/>
            <a:t>FEB</a:t>
          </a:r>
        </a:p>
      </dgm:t>
    </dgm:pt>
    <dgm:pt modelId="{E3306E99-4D30-4DF7-BB3A-511F0E481FBB}" type="parTrans" cxnId="{A00A0FDE-EABA-47C2-A3DD-67B5D60C1C2A}">
      <dgm:prSet/>
      <dgm:spPr/>
      <dgm:t>
        <a:bodyPr/>
        <a:lstStyle/>
        <a:p>
          <a:endParaRPr lang="en-US"/>
        </a:p>
      </dgm:t>
    </dgm:pt>
    <dgm:pt modelId="{CF3C8C72-D664-4947-A7BA-68604103ABD0}" type="sibTrans" cxnId="{A00A0FDE-EABA-47C2-A3DD-67B5D60C1C2A}">
      <dgm:prSet/>
      <dgm:spPr/>
      <dgm:t>
        <a:bodyPr/>
        <a:lstStyle/>
        <a:p>
          <a:endParaRPr lang="en-US"/>
        </a:p>
      </dgm:t>
    </dgm:pt>
    <dgm:pt modelId="{79790F9C-3EE0-4B8B-A6ED-9C8D148A4E9D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FEB is a method where 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biological changes control electrical signals 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 a device</a:t>
          </a:r>
          <a:r>
            <a:rPr lang="en-US" dirty="0"/>
            <a:t>.</a:t>
          </a:r>
        </a:p>
      </dgm:t>
    </dgm:pt>
    <dgm:pt modelId="{91785368-194B-4BCC-B35B-7A115116580F}" type="parTrans" cxnId="{2A7AE4AE-E7CB-4F29-A2E8-A12DB26CA2B9}">
      <dgm:prSet/>
      <dgm:spPr/>
      <dgm:t>
        <a:bodyPr/>
        <a:lstStyle/>
        <a:p>
          <a:endParaRPr lang="en-US"/>
        </a:p>
      </dgm:t>
    </dgm:pt>
    <dgm:pt modelId="{0CB727D2-48FD-48E2-A52F-88A264C1F1E1}" type="sibTrans" cxnId="{2A7AE4AE-E7CB-4F29-A2E8-A12DB26CA2B9}">
      <dgm:prSet/>
      <dgm:spPr/>
      <dgm:t>
        <a:bodyPr/>
        <a:lstStyle/>
        <a:p>
          <a:endParaRPr lang="en-US"/>
        </a:p>
      </dgm:t>
    </dgm:pt>
    <dgm:pt modelId="{8EC000BD-9F3D-43D3-A3C6-ED70F3B116E0}" type="pres">
      <dgm:prSet presAssocID="{2332D4FC-7826-4567-943E-6081C6D7D6D2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22AB3733-B84E-4A73-8B2B-06F467E0A93B}" type="pres">
      <dgm:prSet presAssocID="{0CD9F8BD-6358-4880-AE5D-8EBACEBEA498}" presName="composite" presStyleCnt="0"/>
      <dgm:spPr/>
    </dgm:pt>
    <dgm:pt modelId="{E5C57CEE-2657-40B1-8D14-A69170E2CBBF}" type="pres">
      <dgm:prSet presAssocID="{0CD9F8BD-6358-4880-AE5D-8EBACEBEA498}" presName="FirstChild" presStyleLbl="revTx" presStyleIdx="0" presStyleCnt="1" custScaleX="96228" custScaleY="97509" custLinFactNeighborX="-422" custLinFactNeighborY="97282">
        <dgm:presLayoutVars>
          <dgm:chMax val="0"/>
          <dgm:chPref val="0"/>
          <dgm:bulletEnabled val="1"/>
        </dgm:presLayoutVars>
      </dgm:prSet>
      <dgm:spPr/>
    </dgm:pt>
    <dgm:pt modelId="{41EB7148-A4AD-44BD-82DF-E5A4F2D5B717}" type="pres">
      <dgm:prSet presAssocID="{0CD9F8BD-6358-4880-AE5D-8EBACEBEA498}" presName="Parent" presStyleLbl="alignNode1" presStyleIdx="0" presStyleCnt="1" custScaleY="57039" custLinFactNeighborX="-4407" custLinFactNeighborY="91415">
        <dgm:presLayoutVars>
          <dgm:chMax val="3"/>
          <dgm:chPref val="3"/>
          <dgm:bulletEnabled val="1"/>
        </dgm:presLayoutVars>
      </dgm:prSet>
      <dgm:spPr/>
    </dgm:pt>
    <dgm:pt modelId="{0AFB2402-5B2F-4A63-B943-6A4E5B41B119}" type="pres">
      <dgm:prSet presAssocID="{0CD9F8BD-6358-4880-AE5D-8EBACEBEA498}" presName="Accent" presStyleLbl="parChTrans1D1" presStyleIdx="0" presStyleCnt="1"/>
      <dgm:spPr/>
    </dgm:pt>
  </dgm:ptLst>
  <dgm:cxnLst>
    <dgm:cxn modelId="{C8F6C82A-81A1-4C87-9EDD-D40C7EA969A4}" type="presOf" srcId="{79790F9C-3EE0-4B8B-A6ED-9C8D148A4E9D}" destId="{E5C57CEE-2657-40B1-8D14-A69170E2CBBF}" srcOrd="0" destOrd="0" presId="urn:microsoft.com/office/officeart/2011/layout/TabList"/>
    <dgm:cxn modelId="{F299BF35-A5C9-49EA-A38F-2C91F53AC981}" type="presOf" srcId="{0CD9F8BD-6358-4880-AE5D-8EBACEBEA498}" destId="{41EB7148-A4AD-44BD-82DF-E5A4F2D5B717}" srcOrd="0" destOrd="0" presId="urn:microsoft.com/office/officeart/2011/layout/TabList"/>
    <dgm:cxn modelId="{5681766B-D5EE-4F80-A867-2B86DB3040B1}" type="presOf" srcId="{2332D4FC-7826-4567-943E-6081C6D7D6D2}" destId="{8EC000BD-9F3D-43D3-A3C6-ED70F3B116E0}" srcOrd="0" destOrd="0" presId="urn:microsoft.com/office/officeart/2011/layout/TabList"/>
    <dgm:cxn modelId="{2A7AE4AE-E7CB-4F29-A2E8-A12DB26CA2B9}" srcId="{0CD9F8BD-6358-4880-AE5D-8EBACEBEA498}" destId="{79790F9C-3EE0-4B8B-A6ED-9C8D148A4E9D}" srcOrd="0" destOrd="0" parTransId="{91785368-194B-4BCC-B35B-7A115116580F}" sibTransId="{0CB727D2-48FD-48E2-A52F-88A264C1F1E1}"/>
    <dgm:cxn modelId="{A00A0FDE-EABA-47C2-A3DD-67B5D60C1C2A}" srcId="{2332D4FC-7826-4567-943E-6081C6D7D6D2}" destId="{0CD9F8BD-6358-4880-AE5D-8EBACEBEA498}" srcOrd="0" destOrd="0" parTransId="{E3306E99-4D30-4DF7-BB3A-511F0E481FBB}" sibTransId="{CF3C8C72-D664-4947-A7BA-68604103ABD0}"/>
    <dgm:cxn modelId="{C9394030-7F52-42E0-B07F-F56EB2ED0197}" type="presParOf" srcId="{8EC000BD-9F3D-43D3-A3C6-ED70F3B116E0}" destId="{22AB3733-B84E-4A73-8B2B-06F467E0A93B}" srcOrd="0" destOrd="0" presId="urn:microsoft.com/office/officeart/2011/layout/TabList"/>
    <dgm:cxn modelId="{8A7B67CD-5E34-4EC9-B73B-25E9795CD725}" type="presParOf" srcId="{22AB3733-B84E-4A73-8B2B-06F467E0A93B}" destId="{E5C57CEE-2657-40B1-8D14-A69170E2CBBF}" srcOrd="0" destOrd="0" presId="urn:microsoft.com/office/officeart/2011/layout/TabList"/>
    <dgm:cxn modelId="{A98D5BCF-20A9-4050-B925-A651F15F34FF}" type="presParOf" srcId="{22AB3733-B84E-4A73-8B2B-06F467E0A93B}" destId="{41EB7148-A4AD-44BD-82DF-E5A4F2D5B717}" srcOrd="1" destOrd="0" presId="urn:microsoft.com/office/officeart/2011/layout/TabList"/>
    <dgm:cxn modelId="{DE5A7801-C879-424F-97F8-4C0958E73039}" type="presParOf" srcId="{22AB3733-B84E-4A73-8B2B-06F467E0A93B}" destId="{0AFB2402-5B2F-4A63-B943-6A4E5B41B119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6E81B3-E8E4-417B-AD16-3E31CDEF0A63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20BBD6-CCF5-446C-B9B2-178B42C24F2F}">
      <dgm:prSet phldrT="[Text]" phldr="0"/>
      <dgm:spPr/>
      <dgm:t>
        <a:bodyPr/>
        <a:lstStyle/>
        <a:p>
          <a:r>
            <a:rPr lang="en-US" dirty="0"/>
            <a:t>CRISPR</a:t>
          </a:r>
        </a:p>
      </dgm:t>
    </dgm:pt>
    <dgm:pt modelId="{58839235-EA02-40B9-AFF7-E58CD705F2A1}" type="parTrans" cxnId="{FAF410EB-38DE-42BE-8548-78E52BF91321}">
      <dgm:prSet/>
      <dgm:spPr/>
      <dgm:t>
        <a:bodyPr/>
        <a:lstStyle/>
        <a:p>
          <a:endParaRPr lang="en-US"/>
        </a:p>
      </dgm:t>
    </dgm:pt>
    <dgm:pt modelId="{3BEE36BC-619C-431B-A67B-76C58CEC310A}" type="sibTrans" cxnId="{FAF410EB-38DE-42BE-8548-78E52BF91321}">
      <dgm:prSet/>
      <dgm:spPr/>
      <dgm:t>
        <a:bodyPr/>
        <a:lstStyle/>
        <a:p>
          <a:endParaRPr lang="en-US"/>
        </a:p>
      </dgm:t>
    </dgm:pt>
    <dgm:pt modelId="{ABAAB9FE-DFCD-47D8-9C50-D2483BFF3664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CRISPR is a tool that can 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find a specific DNA sequence and attach to it</a:t>
          </a:r>
        </a:p>
      </dgm:t>
    </dgm:pt>
    <dgm:pt modelId="{2BE7EB35-7162-492E-942A-7F8B10CA1431}" type="parTrans" cxnId="{2A3FBC94-F203-429C-9F59-43EE87E620C0}">
      <dgm:prSet/>
      <dgm:spPr/>
      <dgm:t>
        <a:bodyPr/>
        <a:lstStyle/>
        <a:p>
          <a:endParaRPr lang="en-US"/>
        </a:p>
      </dgm:t>
    </dgm:pt>
    <dgm:pt modelId="{B45F1641-A108-42D4-A57E-A9A920947B4C}" type="sibTrans" cxnId="{2A3FBC94-F203-429C-9F59-43EE87E620C0}">
      <dgm:prSet/>
      <dgm:spPr/>
      <dgm:t>
        <a:bodyPr/>
        <a:lstStyle/>
        <a:p>
          <a:endParaRPr lang="en-US"/>
        </a:p>
      </dgm:t>
    </dgm:pt>
    <dgm:pt modelId="{D3F3A0B8-30E7-4130-913F-CB1CB6F50757}" type="pres">
      <dgm:prSet presAssocID="{4F6E81B3-E8E4-417B-AD16-3E31CDEF0A63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812B0A47-106F-43E6-B648-15F5C71BAEC7}" type="pres">
      <dgm:prSet presAssocID="{4620BBD6-CCF5-446C-B9B2-178B42C24F2F}" presName="composite" presStyleCnt="0"/>
      <dgm:spPr/>
    </dgm:pt>
    <dgm:pt modelId="{3D46E17B-33A1-4636-A9F3-C36AF71F046B}" type="pres">
      <dgm:prSet presAssocID="{4620BBD6-CCF5-446C-B9B2-178B42C24F2F}" presName="FirstChild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2BFCD12E-3AA5-462C-AFEB-6476F06D5F6B}" type="pres">
      <dgm:prSet presAssocID="{4620BBD6-CCF5-446C-B9B2-178B42C24F2F}" presName="Parent" presStyleLbl="alignNode1" presStyleIdx="0" presStyleCnt="1">
        <dgm:presLayoutVars>
          <dgm:chMax val="3"/>
          <dgm:chPref val="3"/>
          <dgm:bulletEnabled val="1"/>
        </dgm:presLayoutVars>
      </dgm:prSet>
      <dgm:spPr/>
    </dgm:pt>
    <dgm:pt modelId="{045FB61C-500A-4FEE-8FCE-A920808A9CDF}" type="pres">
      <dgm:prSet presAssocID="{4620BBD6-CCF5-446C-B9B2-178B42C24F2F}" presName="Accent" presStyleLbl="parChTrans1D1" presStyleIdx="0" presStyleCnt="1"/>
      <dgm:spPr/>
    </dgm:pt>
  </dgm:ptLst>
  <dgm:cxnLst>
    <dgm:cxn modelId="{2625130B-34DA-4A70-BFBA-FD9CC1BAB09E}" type="presOf" srcId="{ABAAB9FE-DFCD-47D8-9C50-D2483BFF3664}" destId="{3D46E17B-33A1-4636-A9F3-C36AF71F046B}" srcOrd="0" destOrd="0" presId="urn:microsoft.com/office/officeart/2011/layout/TabList"/>
    <dgm:cxn modelId="{F7743D54-1436-4C1D-93B9-B4AAA52DBCC3}" type="presOf" srcId="{4620BBD6-CCF5-446C-B9B2-178B42C24F2F}" destId="{2BFCD12E-3AA5-462C-AFEB-6476F06D5F6B}" srcOrd="0" destOrd="0" presId="urn:microsoft.com/office/officeart/2011/layout/TabList"/>
    <dgm:cxn modelId="{04FE1089-03A8-45D1-B29D-163CA9F25AFA}" type="presOf" srcId="{4F6E81B3-E8E4-417B-AD16-3E31CDEF0A63}" destId="{D3F3A0B8-30E7-4130-913F-CB1CB6F50757}" srcOrd="0" destOrd="0" presId="urn:microsoft.com/office/officeart/2011/layout/TabList"/>
    <dgm:cxn modelId="{2A3FBC94-F203-429C-9F59-43EE87E620C0}" srcId="{4620BBD6-CCF5-446C-B9B2-178B42C24F2F}" destId="{ABAAB9FE-DFCD-47D8-9C50-D2483BFF3664}" srcOrd="0" destOrd="0" parTransId="{2BE7EB35-7162-492E-942A-7F8B10CA1431}" sibTransId="{B45F1641-A108-42D4-A57E-A9A920947B4C}"/>
    <dgm:cxn modelId="{FAF410EB-38DE-42BE-8548-78E52BF91321}" srcId="{4F6E81B3-E8E4-417B-AD16-3E31CDEF0A63}" destId="{4620BBD6-CCF5-446C-B9B2-178B42C24F2F}" srcOrd="0" destOrd="0" parTransId="{58839235-EA02-40B9-AFF7-E58CD705F2A1}" sibTransId="{3BEE36BC-619C-431B-A67B-76C58CEC310A}"/>
    <dgm:cxn modelId="{D14838FF-2EEC-4151-8DD4-072682AC2128}" type="presParOf" srcId="{D3F3A0B8-30E7-4130-913F-CB1CB6F50757}" destId="{812B0A47-106F-43E6-B648-15F5C71BAEC7}" srcOrd="0" destOrd="0" presId="urn:microsoft.com/office/officeart/2011/layout/TabList"/>
    <dgm:cxn modelId="{4BB07BA9-78DB-411A-8F6D-500C90D454F2}" type="presParOf" srcId="{812B0A47-106F-43E6-B648-15F5C71BAEC7}" destId="{3D46E17B-33A1-4636-A9F3-C36AF71F046B}" srcOrd="0" destOrd="0" presId="urn:microsoft.com/office/officeart/2011/layout/TabList"/>
    <dgm:cxn modelId="{EAC44109-3278-42AD-8E2D-F79476B47BC9}" type="presParOf" srcId="{812B0A47-106F-43E6-B648-15F5C71BAEC7}" destId="{2BFCD12E-3AA5-462C-AFEB-6476F06D5F6B}" srcOrd="1" destOrd="0" presId="urn:microsoft.com/office/officeart/2011/layout/TabList"/>
    <dgm:cxn modelId="{B09B1F54-A4D1-40EA-8F35-454E3BBA0F54}" type="presParOf" srcId="{812B0A47-106F-43E6-B648-15F5C71BAEC7}" destId="{045FB61C-500A-4FEE-8FCE-A920808A9CDF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B2402-5B2F-4A63-B943-6A4E5B41B119}">
      <dsp:nvSpPr>
        <dsp:cNvPr id="0" name=""/>
        <dsp:cNvSpPr/>
      </dsp:nvSpPr>
      <dsp:spPr>
        <a:xfrm>
          <a:off x="0" y="1218107"/>
          <a:ext cx="8128000" cy="0"/>
        </a:xfrm>
        <a:prstGeom prst="line">
          <a:avLst/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C57CEE-2657-40B1-8D14-A69170E2CBBF}">
      <dsp:nvSpPr>
        <dsp:cNvPr id="0" name=""/>
        <dsp:cNvSpPr/>
      </dsp:nvSpPr>
      <dsp:spPr>
        <a:xfrm>
          <a:off x="2201335" y="1209112"/>
          <a:ext cx="5787844" cy="59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FEB is a method where </a:t>
          </a:r>
          <a:r>
            <a:rPr lang="en-US" sz="18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biological changes control electrical signals 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 a device</a:t>
          </a:r>
          <a:r>
            <a:rPr lang="en-US" sz="1800" kern="1200" dirty="0"/>
            <a:t>.</a:t>
          </a:r>
        </a:p>
      </dsp:txBody>
      <dsp:txXfrm>
        <a:off x="2201335" y="1209112"/>
        <a:ext cx="5787844" cy="595692"/>
      </dsp:txXfrm>
    </dsp:sp>
    <dsp:sp modelId="{41EB7148-A4AD-44BD-82DF-E5A4F2D5B717}">
      <dsp:nvSpPr>
        <dsp:cNvPr id="0" name=""/>
        <dsp:cNvSpPr/>
      </dsp:nvSpPr>
      <dsp:spPr>
        <a:xfrm>
          <a:off x="0" y="1296887"/>
          <a:ext cx="2113280" cy="34845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FEB</a:t>
          </a:r>
        </a:p>
      </dsp:txBody>
      <dsp:txXfrm>
        <a:off x="17013" y="1313900"/>
        <a:ext cx="2079254" cy="3314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5FB61C-500A-4FEE-8FCE-A920808A9CDF}">
      <dsp:nvSpPr>
        <dsp:cNvPr id="0" name=""/>
        <dsp:cNvSpPr/>
      </dsp:nvSpPr>
      <dsp:spPr>
        <a:xfrm>
          <a:off x="0" y="875624"/>
          <a:ext cx="8128000" cy="0"/>
        </a:xfrm>
        <a:prstGeom prst="line">
          <a:avLst/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46E17B-33A1-4636-A9F3-C36AF71F046B}">
      <dsp:nvSpPr>
        <dsp:cNvPr id="0" name=""/>
        <dsp:cNvSpPr/>
      </dsp:nvSpPr>
      <dsp:spPr>
        <a:xfrm>
          <a:off x="2113279" y="437845"/>
          <a:ext cx="6014720" cy="4377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CRISPR is a tool that can </a:t>
          </a:r>
          <a:r>
            <a:rPr lang="en-US" sz="16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find a specific DNA sequence and attach to it</a:t>
          </a:r>
        </a:p>
      </dsp:txBody>
      <dsp:txXfrm>
        <a:off x="2113279" y="437845"/>
        <a:ext cx="6014720" cy="437779"/>
      </dsp:txXfrm>
    </dsp:sp>
    <dsp:sp modelId="{2BFCD12E-3AA5-462C-AFEB-6476F06D5F6B}">
      <dsp:nvSpPr>
        <dsp:cNvPr id="0" name=""/>
        <dsp:cNvSpPr/>
      </dsp:nvSpPr>
      <dsp:spPr>
        <a:xfrm>
          <a:off x="0" y="437845"/>
          <a:ext cx="2113280" cy="437779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43815" rIns="43815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CRISPR</a:t>
          </a:r>
        </a:p>
      </dsp:txBody>
      <dsp:txXfrm>
        <a:off x="21374" y="459219"/>
        <a:ext cx="2070532" cy="416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95757-3103-4028-86A4-1A7D67EDF46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AEEDF-2B9C-46B1-AC70-D5381FED4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03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AEEDF-2B9C-46B1-AC70-D5381FED4B6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24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77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19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43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26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08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6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80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5E72C73-2D91-4E12-BA25-F0AA0C03599B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477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4591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4578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230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7015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3408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7234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696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964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2134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5F7B-39B6-1D0B-BD9D-C391BC8CB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355" y="2807211"/>
            <a:ext cx="8825658" cy="1204448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a Graphene Biosensor for CRISPR-Based Molecular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BB4FA-1191-F01C-920C-640F7E195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6601" y="5116046"/>
            <a:ext cx="5425546" cy="86142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S.BlessikA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- 192525251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BandarilakshithasankaRreddy-192571085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CD54E-2F84-FCE9-C2EE-56B9AD233247}"/>
              </a:ext>
            </a:extLst>
          </p:cNvPr>
          <p:cNvSpPr txBox="1"/>
          <p:nvPr/>
        </p:nvSpPr>
        <p:spPr>
          <a:xfrm>
            <a:off x="2162488" y="4109793"/>
            <a:ext cx="5961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BTA0119- BIOLOGY AND ENVIRONMENTAL SCIENCES</a:t>
            </a:r>
          </a:p>
        </p:txBody>
      </p:sp>
    </p:spTree>
    <p:extLst>
      <p:ext uri="{BB962C8B-B14F-4D97-AF65-F5344CB8AC3E}">
        <p14:creationId xmlns:p14="http://schemas.microsoft.com/office/powerpoint/2010/main" val="3688142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9EFE6-B8A0-8DC1-B5AF-232D66399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FEF8C1F-3C21-2B24-7E89-8276AB0D7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67" y="2703607"/>
            <a:ext cx="708078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healthcare needs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and smarter diagnostic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trend is moving from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lab-based testing → portable smart devices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Combining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nanomaterials (graphene) with biology (DNA detection)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arly detection with minimal resources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752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B4917-4A9E-C3A0-583D-B66B7B69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identification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D8B37C-8B92-C75B-D558-33AAF3899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666" y="2779807"/>
            <a:ext cx="1007533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methods require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 processing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detecting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small amounts of DNA (low sensitivity)-(PCR)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are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real-time (delay in diagnosis) -(CULTURE METHODS)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cost of advanced diagnostic equipment- (IMAGING TECHNIQUES)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499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9F944-FA4D-B758-15DA-E2A045CB2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Biosensors overview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CEC025-6757-F544-D786-73382B0D9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667" y="2136338"/>
            <a:ext cx="6227154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biosensor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 device that detects biological substances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biological reactions into electrical signals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healthcare, environment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3A6E1D-D747-7030-BA46-4FE0DF97F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1" t="1563" r="1481" b="49259"/>
          <a:stretch>
            <a:fillRect/>
          </a:stretch>
        </p:blipFill>
        <p:spPr>
          <a:xfrm>
            <a:off x="1098177" y="3589867"/>
            <a:ext cx="9995646" cy="300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14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1DD8-9C7F-3EE3-70B4-C530A930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Graphene and it’s importance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BFE006-7A7F-DF7F-D3AC-B89B5F3F7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24" y="2228311"/>
            <a:ext cx="4443845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Graphene = single layer of carbon atoms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Properties: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conductivity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2.Extremely sensitive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3.Fast signal response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4.Ideal for advanced biosensors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6BFEA0-EA7D-A50D-C64F-406B495BC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132" y="2650067"/>
            <a:ext cx="3547535" cy="267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0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08075-9850-944D-B193-2CD90B60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Graphene Biosensors + FEB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F439E3-4BC3-C017-525E-26EDF1998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799" y="1985314"/>
            <a:ext cx="5724644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DNA, proteins, and biomolecules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Field Effect Biosensing (FEB)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Biological interaction → change in electrical current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sensi 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06B7219-D457-F8B4-65FC-697D5DA7A6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2076692"/>
              </p:ext>
            </p:extLst>
          </p:nvPr>
        </p:nvGraphicFramePr>
        <p:xfrm>
          <a:off x="863600" y="4754152"/>
          <a:ext cx="8128000" cy="1832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EFC93F75-6AAA-35C3-8C47-085136F042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702" t="40389" r="32462" b="11358"/>
          <a:stretch>
            <a:fillRect/>
          </a:stretch>
        </p:blipFill>
        <p:spPr>
          <a:xfrm>
            <a:off x="7802879" y="2568831"/>
            <a:ext cx="3686387" cy="3202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C6A8B0-4B27-5430-6EE1-82402BD0AB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489" t="8395" r="33368" b="59611"/>
          <a:stretch>
            <a:fillRect/>
          </a:stretch>
        </p:blipFill>
        <p:spPr>
          <a:xfrm>
            <a:off x="3421121" y="3547378"/>
            <a:ext cx="3615267" cy="212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54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A858-EA34-D2FD-4434-A417E28C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CRISPR Technology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9E2010-3FB7-20E2-62EB-752F6BD4C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567" y="2145720"/>
            <a:ext cx="4437433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CRISPR = gene-editing &amp; detection tool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specific DNA sequences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1.Virus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2.Genetic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3.Highly accurate 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1EB214B-5A01-F934-063E-20C2B1A194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5344957"/>
              </p:ext>
            </p:extLst>
          </p:nvPr>
        </p:nvGraphicFramePr>
        <p:xfrm>
          <a:off x="889000" y="5530690"/>
          <a:ext cx="8128000" cy="1313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8640AC1-1CFD-6E06-BC43-7366DD1D781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8689" r="68841" b="14939"/>
          <a:stretch>
            <a:fillRect/>
          </a:stretch>
        </p:blipFill>
        <p:spPr>
          <a:xfrm>
            <a:off x="8531910" y="2998409"/>
            <a:ext cx="3205379" cy="3025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3ABF9E-06A7-6F73-D2D5-3672FB3DE72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364" r="68841" b="61111"/>
          <a:stretch>
            <a:fillRect/>
          </a:stretch>
        </p:blipFill>
        <p:spPr>
          <a:xfrm>
            <a:off x="5114141" y="3331029"/>
            <a:ext cx="3205379" cy="199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35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5F62E-41B6-7435-BECA-480999954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principle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4694A-4DAA-FC21-C17D-25737E3B1C66}"/>
              </a:ext>
            </a:extLst>
          </p:cNvPr>
          <p:cNvSpPr txBox="1"/>
          <p:nvPr/>
        </p:nvSpPr>
        <p:spPr>
          <a:xfrm>
            <a:off x="558800" y="2184400"/>
            <a:ext cx="508846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DNA binds with CRISPR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Graphene transistor senses change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generated instantly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converts signal into result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0095A-4E16-5149-26BC-61FE2F87D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15"/>
          <a:stretch>
            <a:fillRect/>
          </a:stretch>
        </p:blipFill>
        <p:spPr>
          <a:xfrm>
            <a:off x="1027160" y="3505200"/>
            <a:ext cx="10287000" cy="320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06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AED0E-5CAA-8A1E-72EC-0C21AF42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177814-EA11-44FA-8B34-89D19D09F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867" y="2715962"/>
            <a:ext cx="332559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Disease diagnosis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Virus detection (like COVID)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Cancer biomarker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28C9BD-CD9C-B97F-EA93-B10E7D7FCD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033" t="9173" r="2257" b="44321"/>
          <a:stretch>
            <a:fillRect/>
          </a:stretch>
        </p:blipFill>
        <p:spPr>
          <a:xfrm>
            <a:off x="5799667" y="2501900"/>
            <a:ext cx="3389710" cy="376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63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3351E-1358-65A2-C7E9-686D69D5D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C709C3-522C-004E-3D10-C4767816E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2533643"/>
            <a:ext cx="802559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sensitivity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detecting even small amounts of DNA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giving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results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CRISPR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accuracy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targeting specific DNA sequences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Graphene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 detects small electrical changes effectively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improves signal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reduces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fast, reliable, and efficient for molecular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7248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7CDC9-FFA6-76FD-F4B2-31C56AB3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D051DC-E6D9-F7CB-FF7D-B312C300B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33" y="2579008"/>
            <a:ext cx="946983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biology, graphene nanotechnology, and AI into a single smart detection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fast, real-time, and highly sensitive molecular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CRISPR for accurate DNA targeting and graphene for precise signal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improves data analysis, accuracy, and decision-making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strong potential to revolutionize future healthcare and diagnostics </a:t>
            </a:r>
          </a:p>
        </p:txBody>
      </p:sp>
    </p:spTree>
    <p:extLst>
      <p:ext uri="{BB962C8B-B14F-4D97-AF65-F5344CB8AC3E}">
        <p14:creationId xmlns:p14="http://schemas.microsoft.com/office/powerpoint/2010/main" val="1497669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32406D-6611-C135-1E32-98C092C0A8E5}"/>
              </a:ext>
            </a:extLst>
          </p:cNvPr>
          <p:cNvSpPr/>
          <p:nvPr/>
        </p:nvSpPr>
        <p:spPr>
          <a:xfrm>
            <a:off x="2276102" y="2476268"/>
            <a:ext cx="704712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  <a:endParaRPr lang="en-US" sz="9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971228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474</TotalTime>
  <Words>402</Words>
  <Application>Microsoft Office PowerPoint</Application>
  <PresentationFormat>Widescreen</PresentationFormat>
  <Paragraphs>103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Century Gothic</vt:lpstr>
      <vt:lpstr>Times New Roman</vt:lpstr>
      <vt:lpstr>Mesh</vt:lpstr>
      <vt:lpstr>Design of a Graphene Biosensor for CRISPR-Based Molecular Detection</vt:lpstr>
      <vt:lpstr>Introduction</vt:lpstr>
      <vt:lpstr>Problem identification</vt:lpstr>
      <vt:lpstr>Biosensors overview </vt:lpstr>
      <vt:lpstr>Graphene and it’s importance</vt:lpstr>
      <vt:lpstr>Graphene Biosensors + FEB</vt:lpstr>
      <vt:lpstr>CRISPR Technology</vt:lpstr>
      <vt:lpstr>Working principle </vt:lpstr>
      <vt:lpstr>Applications </vt:lpstr>
      <vt:lpstr>Results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Lakshitha Reddy</dc:creator>
  <cp:lastModifiedBy>Lakshitha Reddy</cp:lastModifiedBy>
  <cp:revision>2</cp:revision>
  <dcterms:created xsi:type="dcterms:W3CDTF">2026-05-04T15:12:20Z</dcterms:created>
  <dcterms:modified xsi:type="dcterms:W3CDTF">2026-10-20T07:19:10Z</dcterms:modified>
</cp:coreProperties>
</file>